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9"/>
  </p:notesMasterIdLst>
  <p:handoutMasterIdLst>
    <p:handoutMasterId r:id="rId20"/>
  </p:handoutMasterIdLst>
  <p:sldIdLst>
    <p:sldId id="314" r:id="rId3"/>
    <p:sldId id="323" r:id="rId4"/>
    <p:sldId id="266" r:id="rId5"/>
    <p:sldId id="341" r:id="rId6"/>
    <p:sldId id="342" r:id="rId7"/>
    <p:sldId id="343" r:id="rId8"/>
    <p:sldId id="344" r:id="rId9"/>
    <p:sldId id="346" r:id="rId10"/>
    <p:sldId id="349" r:id="rId11"/>
    <p:sldId id="350" r:id="rId12"/>
    <p:sldId id="351" r:id="rId13"/>
    <p:sldId id="352" r:id="rId14"/>
    <p:sldId id="340" r:id="rId15"/>
    <p:sldId id="347" r:id="rId16"/>
    <p:sldId id="348" r:id="rId17"/>
    <p:sldId id="33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3/11/2026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11-03-2026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11-03-2026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11-03-2026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11-03-2026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11-03-2026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11-03-2026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11-03-2026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11-03-2026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11-03-2026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11-03-2026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11-03-2026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11-03-2026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11-03-2026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11-03-2026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11-03-2026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11-03-2026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11-03-2026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324193" y="177980"/>
            <a:ext cx="11543614" cy="1128381"/>
          </a:xfrm>
        </p:spPr>
        <p:txBody>
          <a:bodyPr>
            <a:noAutofit/>
          </a:bodyPr>
          <a:lstStyle/>
          <a:p>
            <a:pPr algn="ctr">
              <a:lnSpc>
                <a:spcPct val="100000"/>
              </a:lnSpc>
            </a:pPr>
            <a:r>
              <a:rPr lang="en-US" sz="2800" b="1" dirty="0">
                <a:solidFill>
                  <a:srgbClr val="0070C0"/>
                </a:solidFill>
                <a:latin typeface="Times New Roman" panose="02020603050405020304" pitchFamily="18" charset="0"/>
                <a:cs typeface="Times New Roman" panose="02020603050405020304" pitchFamily="18" charset="0"/>
              </a:rPr>
              <a:t>Title: Personal Expense Tracker Using Java</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1062135" y="2967136"/>
            <a:ext cx="10515600" cy="1097555"/>
          </a:xfrm>
        </p:spPr>
        <p:txBody>
          <a:bodyPr>
            <a:noAutofit/>
          </a:bodyPr>
          <a:lstStyle/>
          <a:p>
            <a:pPr marL="0" indent="0" algn="ctr">
              <a:buNone/>
            </a:pPr>
            <a:r>
              <a:rPr lang="en-US" sz="2000" b="1" dirty="0">
                <a:latin typeface="Times New Roman" panose="02020603050405020304" pitchFamily="18" charset="0"/>
                <a:cs typeface="Times New Roman" panose="02020603050405020304" pitchFamily="18" charset="0"/>
              </a:rPr>
              <a:t>Student Name: </a:t>
            </a:r>
            <a:r>
              <a:rPr lang="en-US" sz="2000" dirty="0">
                <a:latin typeface="Times New Roman" panose="02020603050405020304" pitchFamily="18" charset="0"/>
                <a:cs typeface="Times New Roman" panose="02020603050405020304" pitchFamily="18" charset="0"/>
              </a:rPr>
              <a:t>Polisetty Sreeharsha</a:t>
            </a:r>
          </a:p>
          <a:p>
            <a:pPr marL="0" indent="0" algn="ctr">
              <a:buNone/>
            </a:pPr>
            <a:r>
              <a:rPr lang="en-US" sz="2000" b="1" dirty="0">
                <a:latin typeface="Times New Roman" panose="02020603050405020304" pitchFamily="18" charset="0"/>
                <a:cs typeface="Times New Roman" panose="02020603050405020304" pitchFamily="18" charset="0"/>
              </a:rPr>
              <a:t>Student ID: </a:t>
            </a:r>
            <a:r>
              <a:rPr lang="en-US" sz="2000" dirty="0">
                <a:latin typeface="Times New Roman" panose="02020603050405020304" pitchFamily="18" charset="0"/>
                <a:cs typeface="Times New Roman" panose="02020603050405020304" pitchFamily="18" charset="0"/>
              </a:rPr>
              <a:t>2520030123</a:t>
            </a:r>
          </a:p>
          <a:p>
            <a:pPr marL="0" indent="0" algn="ctr">
              <a:buNone/>
            </a:pPr>
            <a:r>
              <a:rPr lang="en-US" sz="2000" b="1" dirty="0">
                <a:latin typeface="Times New Roman" panose="02020603050405020304" pitchFamily="18" charset="0"/>
                <a:cs typeface="Times New Roman" panose="02020603050405020304" pitchFamily="18" charset="0"/>
              </a:rPr>
              <a:t>Cluster: 2</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Section:</a:t>
            </a:r>
            <a:r>
              <a:rPr lang="en-US" sz="2000" dirty="0">
                <a:latin typeface="Times New Roman" panose="02020603050405020304" pitchFamily="18" charset="0"/>
                <a:cs typeface="Times New Roman" panose="02020603050405020304" pitchFamily="18" charset="0"/>
              </a:rPr>
              <a:t> 5</a:t>
            </a:r>
          </a:p>
          <a:p>
            <a:pPr marL="0" indent="0" algn="ctr">
              <a:buNone/>
            </a:pPr>
            <a:r>
              <a:rPr lang="en-US" sz="2000" dirty="0">
                <a:latin typeface="Times New Roman" panose="02020603050405020304" pitchFamily="18" charset="0"/>
                <a:cs typeface="Times New Roman" panose="02020603050405020304" pitchFamily="18" charset="0"/>
              </a:rPr>
              <a:t>Under the Guidance </a:t>
            </a:r>
          </a:p>
          <a:p>
            <a:pPr marL="0" indent="0" algn="ctr">
              <a:buNone/>
            </a:pPr>
            <a:r>
              <a:rPr lang="en-US" sz="2000" dirty="0">
                <a:latin typeface="Times New Roman" panose="02020603050405020304" pitchFamily="18" charset="0"/>
                <a:cs typeface="Times New Roman" panose="02020603050405020304" pitchFamily="18" charset="0"/>
              </a:rPr>
              <a:t>of </a:t>
            </a:r>
            <a:endParaRPr lang="en-US" sz="20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2000" dirty="0">
                <a:solidFill>
                  <a:srgbClr val="00B050"/>
                </a:solidFill>
                <a:latin typeface="Times New Roman" panose="02020603050405020304" pitchFamily="18" charset="0"/>
                <a:cs typeface="Times New Roman" panose="02020603050405020304" pitchFamily="18" charset="0"/>
              </a:rPr>
              <a:t>Supervisor Name: Ms. Mamatha</a:t>
            </a:r>
          </a:p>
          <a:p>
            <a:pPr marL="0" indent="0" algn="ctr">
              <a:buNone/>
            </a:pPr>
            <a:r>
              <a:rPr lang="en-US" sz="2000" dirty="0">
                <a:solidFill>
                  <a:srgbClr val="00B050"/>
                </a:solidFill>
                <a:latin typeface="Times New Roman" panose="02020603050405020304" pitchFamily="18" charset="0"/>
                <a:cs typeface="Times New Roman" panose="02020603050405020304" pitchFamily="18" charset="0"/>
              </a:rPr>
              <a:t>Assistant Professor</a:t>
            </a:r>
          </a:p>
          <a:p>
            <a:pPr marL="0" indent="0" algn="ctr">
              <a:buNone/>
            </a:pPr>
            <a:r>
              <a:rPr lang="en-US" sz="2000" dirty="0">
                <a:solidFill>
                  <a:srgbClr val="00B050"/>
                </a:solidFill>
                <a:latin typeface="Times New Roman" panose="02020603050405020304" pitchFamily="18" charset="0"/>
                <a:cs typeface="Times New Roman" panose="02020603050405020304" pitchFamily="18" charset="0"/>
              </a:rPr>
              <a:t>Department of CSE</a:t>
            </a:r>
          </a:p>
          <a:p>
            <a:pPr marL="0" indent="0">
              <a:buNone/>
            </a:pPr>
            <a:endParaRPr lang="en-US" sz="2000" dirty="0">
              <a:solidFill>
                <a:srgbClr val="00B050"/>
              </a:solidFill>
              <a:latin typeface="Times New Roman" panose="02020603050405020304" pitchFamily="18" charset="0"/>
              <a:cs typeface="Times New Roman" panose="02020603050405020304" pitchFamily="18" charset="0"/>
            </a:endParaRPr>
          </a:p>
          <a:p>
            <a:pPr marL="0" indent="0" algn="ctr">
              <a:buNone/>
            </a:pPr>
            <a:endParaRPr lang="en-US" sz="2000"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11-03-2026</a:t>
            </a:fld>
            <a:endParaRPr lang="en-US"/>
          </a:p>
        </p:txBody>
      </p:sp>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4" name="Picture 2" descr="KLH | Hyderabad">
            <a:extLst>
              <a:ext uri="{FF2B5EF4-FFF2-40B4-BE49-F238E27FC236}">
                <a16:creationId xmlns:a16="http://schemas.microsoft.com/office/drawing/2014/main" id="{C0E39026-731B-FDC8-5269-83E371AC2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0151" y="924842"/>
            <a:ext cx="2170276" cy="2042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 Personal Expense Tracker is a console-based application developed using Java and Data Structures.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It helps users record and manage their income and expenses.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The system allows users to add, view, search, sort, and undo transactions.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Data structures like Linked List, Stack, Queue, and HashMap are used.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The project demonstrates the practical application of data structures in financial management.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460375"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Expenses are usually recorded manually in notebooks or spreadsheets.</a:t>
            </a:r>
          </a:p>
          <a:p>
            <a:pPr marL="460375"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Manual tracking can lead to errors and data loss.</a:t>
            </a:r>
          </a:p>
          <a:p>
            <a:pPr marL="460375"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Searching or organizing past transactions is difficult.</a:t>
            </a:r>
          </a:p>
          <a:p>
            <a:pPr marL="460375" lvl="1"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There is no proper structure to manage large amounts of data.</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Java-based console application for managing personal expenses.</a:t>
            </a:r>
          </a:p>
          <a:p>
            <a:pPr>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Allows users to add income and expense transactions.</a:t>
            </a:r>
          </a:p>
          <a:p>
            <a:pPr>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Provides features like viewing summary, searching, sorting, and undo operations.</a:t>
            </a:r>
          </a:p>
          <a:p>
            <a:pPr>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Uses data structures such as Linked List, Stack, Queue, and HashMap for efficient data management.</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1707CCAA-8A6B-0CEE-5500-5FFBDDAF1829}"/>
              </a:ext>
            </a:extLst>
          </p:cNvPr>
          <p:cNvPicPr>
            <a:picLocks noGrp="1" noChangeAspect="1"/>
          </p:cNvPicPr>
          <p:nvPr>
            <p:ph idx="1"/>
          </p:nvPr>
        </p:nvPicPr>
        <p:blipFill>
          <a:blip r:embed="rId2"/>
          <a:stretch>
            <a:fillRect/>
          </a:stretch>
        </p:blipFill>
        <p:spPr>
          <a:xfrm>
            <a:off x="5539260" y="1954996"/>
            <a:ext cx="6142680" cy="3373529"/>
          </a:xfrm>
          <a:prstGeom prst="rect">
            <a:avLst/>
          </a:prstGeom>
          <a:ln w="228600" cap="sq" cmpd="thickThin">
            <a:solidFill>
              <a:srgbClr val="000000"/>
            </a:solidFill>
            <a:prstDash val="solid"/>
            <a:miter lim="800000"/>
          </a:ln>
          <a:effectLst>
            <a:innerShdw blurRad="76200">
              <a:srgbClr val="000000"/>
            </a:innerShdw>
          </a:effectLst>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10" name="TextBox 9">
            <a:extLst>
              <a:ext uri="{FF2B5EF4-FFF2-40B4-BE49-F238E27FC236}">
                <a16:creationId xmlns:a16="http://schemas.microsoft.com/office/drawing/2014/main" id="{287A5732-21B9-6407-D91D-37ABC926AFE3}"/>
              </a:ext>
            </a:extLst>
          </p:cNvPr>
          <p:cNvSpPr txBox="1"/>
          <p:nvPr/>
        </p:nvSpPr>
        <p:spPr>
          <a:xfrm>
            <a:off x="177282" y="1945665"/>
            <a:ext cx="4917232"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User interacts with the system through a console interface.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The application processes user inputs and performs operations.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Data structures are used to store and manage transactions.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Linked List stores transaction records.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Stack manages undo operations.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Queue maintains transaction history.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HashMap stores user login information.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a:bodyPr>
          <a:lstStyle/>
          <a:p>
            <a:pPr marL="0" indent="0">
              <a:lnSpc>
                <a:spcPct val="150000"/>
              </a:lnSpc>
              <a:buNone/>
            </a:pPr>
            <a:r>
              <a:rPr lang="en-IN" sz="2000" dirty="0">
                <a:latin typeface="Times New Roman" panose="02020603050405020304" pitchFamily="18" charset="0"/>
                <a:cs typeface="Times New Roman" panose="02020603050405020304" pitchFamily="18" charset="0"/>
              </a:rPr>
              <a:t>• User Authentication Module – Handles user login using HashMap.</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Transaction Management Module – Adds and stores transactions using Linked List.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Summary Module – Calculates total income, expenses, and balance.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Search Module – Searches transactions using Linear Search.</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Sorting Module – Sorts transactions using Bubble Sort.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Undo Module – Removes last transaction using Stack.</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 To develop a system for tracking personal income and expenses.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To apply data structures in solving real-world problems.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To implement operations such as searching, sorting, and undo functionality.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To provide a simple interface for managing financial records.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To improve understanding of data structures through practical implementation.</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14" name="Content Placeholder 13">
            <a:extLst>
              <a:ext uri="{FF2B5EF4-FFF2-40B4-BE49-F238E27FC236}">
                <a16:creationId xmlns:a16="http://schemas.microsoft.com/office/drawing/2014/main" id="{19FED56F-063D-DE9A-53B7-0640FA5A3F18}"/>
              </a:ext>
            </a:extLst>
          </p:cNvPr>
          <p:cNvPicPr>
            <a:picLocks noGrp="1" noChangeAspect="1"/>
          </p:cNvPicPr>
          <p:nvPr>
            <p:ph idx="1"/>
          </p:nvPr>
        </p:nvPicPr>
        <p:blipFill>
          <a:blip r:embed="rId2"/>
          <a:stretch>
            <a:fillRect/>
          </a:stretch>
        </p:blipFill>
        <p:spPr>
          <a:xfrm>
            <a:off x="7128588" y="1394727"/>
            <a:ext cx="4496808" cy="2622622"/>
          </a:xfrm>
          <a:prstGeom prst="rect">
            <a:avLst/>
          </a:prstGeom>
          <a:ln>
            <a:noFill/>
          </a:ln>
          <a:effectLst>
            <a:softEdge rad="112500"/>
          </a:effectLst>
        </p:spPr>
      </p:pic>
      <p:sp>
        <p:nvSpPr>
          <p:cNvPr id="22" name="TextBox 21">
            <a:extLst>
              <a:ext uri="{FF2B5EF4-FFF2-40B4-BE49-F238E27FC236}">
                <a16:creationId xmlns:a16="http://schemas.microsoft.com/office/drawing/2014/main" id="{B926C554-6F8F-20DB-1E50-39C7D3DAD678}"/>
              </a:ext>
            </a:extLst>
          </p:cNvPr>
          <p:cNvSpPr txBox="1"/>
          <p:nvPr/>
        </p:nvSpPr>
        <p:spPr>
          <a:xfrm>
            <a:off x="690465" y="1708476"/>
            <a:ext cx="5405535" cy="397031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CO1: Searching &amp; Sorting </a:t>
            </a:r>
          </a:p>
          <a:p>
            <a:br>
              <a:rPr lang="en-IN" dirty="0"/>
            </a:br>
            <a:r>
              <a:rPr lang="en-IN" dirty="0">
                <a:latin typeface="Times New Roman" panose="02020603050405020304" pitchFamily="18" charset="0"/>
                <a:cs typeface="Times New Roman" panose="02020603050405020304" pitchFamily="18" charset="0"/>
              </a:rPr>
              <a:t>Linear Search  </a:t>
            </a:r>
          </a:p>
          <a:p>
            <a:r>
              <a:rPr lang="en-US" dirty="0">
                <a:latin typeface="Times New Roman" panose="02020603050405020304" pitchFamily="18" charset="0"/>
                <a:cs typeface="Times New Roman" panose="02020603050405020304" pitchFamily="18" charset="0"/>
              </a:rPr>
              <a:t>Iterates through the list using a while loop and </a:t>
            </a:r>
            <a:r>
              <a:rPr lang="en-US" dirty="0" err="1">
                <a:latin typeface="Times New Roman" panose="02020603050405020304" pitchFamily="18" charset="0"/>
                <a:cs typeface="Times New Roman" panose="02020603050405020304" pitchFamily="18" charset="0"/>
              </a:rPr>
              <a:t>equalsIgnoreCase</a:t>
            </a:r>
            <a:r>
              <a:rPr lang="en-US" dirty="0">
                <a:latin typeface="Times New Roman" panose="02020603050405020304" pitchFamily="18" charset="0"/>
                <a:cs typeface="Times New Roman" panose="02020603050405020304" pitchFamily="18" charset="0"/>
              </a:rPr>
              <a:t> to find a specific expense.</a:t>
            </a:r>
            <a:endParaRPr lang="en-IN" dirty="0"/>
          </a:p>
          <a:p>
            <a:endParaRPr lang="en-IN" dirty="0"/>
          </a:p>
          <a:p>
            <a:endParaRPr lang="en-IN" dirty="0"/>
          </a:p>
          <a:p>
            <a:endParaRPr lang="en-IN" dirty="0"/>
          </a:p>
          <a:p>
            <a:br>
              <a:rPr lang="en-IN" dirty="0"/>
            </a:br>
            <a:r>
              <a:rPr lang="en-IN" dirty="0">
                <a:latin typeface="Times New Roman" panose="02020603050405020304" pitchFamily="18" charset="0"/>
                <a:cs typeface="Times New Roman" panose="02020603050405020304" pitchFamily="18" charset="0"/>
              </a:rPr>
              <a:t>Bubble Sort  </a:t>
            </a:r>
            <a:r>
              <a:rPr lang="en-US" dirty="0">
                <a:latin typeface="Times New Roman" panose="02020603050405020304" pitchFamily="18" charset="0"/>
                <a:cs typeface="Times New Roman" panose="02020603050405020304" pitchFamily="18" charset="0"/>
              </a:rPr>
              <a:t>Uses a do-while loop and nested while loop to compare adjacent </a:t>
            </a:r>
            <a:r>
              <a:rPr lang="en-US" dirty="0" err="1">
                <a:latin typeface="Times New Roman" panose="02020603050405020304" pitchFamily="18" charset="0"/>
                <a:cs typeface="Times New Roman" panose="02020603050405020304" pitchFamily="18" charset="0"/>
              </a:rPr>
              <a:t>curr.amount</a:t>
            </a:r>
            <a:r>
              <a:rPr lang="en-US" dirty="0">
                <a:latin typeface="Times New Roman" panose="02020603050405020304" pitchFamily="18" charset="0"/>
                <a:cs typeface="Times New Roman" panose="02020603050405020304" pitchFamily="18" charset="0"/>
              </a:rPr>
              <a:t> values and swap them if they are out of order.</a:t>
            </a:r>
            <a:br>
              <a:rPr lang="en-IN" dirty="0"/>
            </a:br>
            <a:br>
              <a:rPr lang="en-IN" dirty="0"/>
            </a:br>
            <a:endParaRPr lang="en-IN" dirty="0"/>
          </a:p>
        </p:txBody>
      </p:sp>
      <p:pic>
        <p:nvPicPr>
          <p:cNvPr id="26" name="Picture 25">
            <a:extLst>
              <a:ext uri="{FF2B5EF4-FFF2-40B4-BE49-F238E27FC236}">
                <a16:creationId xmlns:a16="http://schemas.microsoft.com/office/drawing/2014/main" id="{4D34B3F4-1D02-0687-2C80-DDFC8BBCC791}"/>
              </a:ext>
            </a:extLst>
          </p:cNvPr>
          <p:cNvPicPr>
            <a:picLocks noChangeAspect="1"/>
          </p:cNvPicPr>
          <p:nvPr/>
        </p:nvPicPr>
        <p:blipFill>
          <a:blip r:embed="rId3"/>
          <a:stretch>
            <a:fillRect/>
          </a:stretch>
        </p:blipFill>
        <p:spPr>
          <a:xfrm>
            <a:off x="7128588" y="4265645"/>
            <a:ext cx="4742270" cy="2207534"/>
          </a:xfrm>
          <a:prstGeom prst="rect">
            <a:avLst/>
          </a:prstGeom>
          <a:ln>
            <a:noFill/>
          </a:ln>
          <a:effectLst>
            <a:softEdge rad="112500"/>
          </a:effectLst>
        </p:spPr>
      </p:pic>
    </p:spTree>
    <p:extLst>
      <p:ext uri="{BB962C8B-B14F-4D97-AF65-F5344CB8AC3E}">
        <p14:creationId xmlns:p14="http://schemas.microsoft.com/office/powerpoint/2010/main" val="344365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07B0E-5507-915A-118C-A4F6745EAFCE}"/>
              </a:ext>
            </a:extLst>
          </p:cNvPr>
          <p:cNvSpPr>
            <a:spLocks noGrp="1"/>
          </p:cNvSpPr>
          <p:nvPr>
            <p:ph type="title"/>
          </p:nvPr>
        </p:nvSpPr>
        <p:spPr/>
        <p:txBody>
          <a:bodyPr/>
          <a:lstStyle/>
          <a:p>
            <a:pPr algn="ctr"/>
            <a:r>
              <a:rPr lang="en-US" b="1" dirty="0"/>
              <a:t>Co’s Attainments - DSA</a:t>
            </a:r>
            <a:endParaRPr lang="en-IN" dirty="0"/>
          </a:p>
        </p:txBody>
      </p:sp>
      <p:sp>
        <p:nvSpPr>
          <p:cNvPr id="3" name="Content Placeholder 2">
            <a:extLst>
              <a:ext uri="{FF2B5EF4-FFF2-40B4-BE49-F238E27FC236}">
                <a16:creationId xmlns:a16="http://schemas.microsoft.com/office/drawing/2014/main" id="{F69A0394-D380-580A-C337-08D11337AF59}"/>
              </a:ext>
            </a:extLst>
          </p:cNvPr>
          <p:cNvSpPr>
            <a:spLocks noGrp="1"/>
          </p:cNvSpPr>
          <p:nvPr>
            <p:ph idx="1"/>
          </p:nvPr>
        </p:nvSpPr>
        <p:spPr>
          <a:xfrm>
            <a:off x="623596" y="1663933"/>
            <a:ext cx="5385318" cy="4351338"/>
          </a:xfrm>
        </p:spPr>
        <p:txBody>
          <a:bodyPr>
            <a:normAutofit/>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CO2: Linked List</a:t>
            </a:r>
            <a:br>
              <a:rPr lang="en-IN" sz="20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Node Structure: </a:t>
            </a:r>
            <a:r>
              <a:rPr lang="en-US" sz="1800" dirty="0">
                <a:latin typeface="Times New Roman" panose="02020603050405020304" pitchFamily="18" charset="0"/>
                <a:cs typeface="Times New Roman" panose="02020603050405020304" pitchFamily="18" charset="0"/>
              </a:rPr>
              <a:t>Defines the Expense class as a self-referential structure containing data (description, amount) and a pointer (next).</a:t>
            </a:r>
          </a:p>
          <a:p>
            <a:pPr marL="0" indent="0">
              <a:lnSpc>
                <a:spcPct val="150000"/>
              </a:lnSpc>
              <a:buNone/>
            </a:pP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List Operations:  The add() method implements Insert at End logic. It traverses the list using a temp pointer until </a:t>
            </a:r>
            <a:r>
              <a:rPr lang="en-US" sz="1800" dirty="0" err="1">
                <a:latin typeface="Times New Roman" panose="02020603050405020304" pitchFamily="18" charset="0"/>
                <a:cs typeface="Times New Roman" panose="02020603050405020304" pitchFamily="18" charset="0"/>
              </a:rPr>
              <a:t>temp.next</a:t>
            </a:r>
            <a:r>
              <a:rPr lang="en-US" sz="1800" dirty="0">
                <a:latin typeface="Times New Roman" panose="02020603050405020304" pitchFamily="18" charset="0"/>
                <a:cs typeface="Times New Roman" panose="02020603050405020304" pitchFamily="18" charset="0"/>
              </a:rPr>
              <a:t> == null to link the new node.</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695CE54-29B9-EB1F-B32E-3CD6EE8175E6}"/>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C1A09C5B-6800-5C65-78B4-95E0AF6FEB2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353EC97-3EFC-7355-FC10-9DEB0AF14298}"/>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8" name="Picture 7">
            <a:extLst>
              <a:ext uri="{FF2B5EF4-FFF2-40B4-BE49-F238E27FC236}">
                <a16:creationId xmlns:a16="http://schemas.microsoft.com/office/drawing/2014/main" id="{7F0DC735-5142-4E7C-30CC-3CB5C6E3F298}"/>
              </a:ext>
            </a:extLst>
          </p:cNvPr>
          <p:cNvPicPr>
            <a:picLocks noChangeAspect="1"/>
          </p:cNvPicPr>
          <p:nvPr/>
        </p:nvPicPr>
        <p:blipFill>
          <a:blip r:embed="rId2"/>
          <a:stretch>
            <a:fillRect/>
          </a:stretch>
        </p:blipFill>
        <p:spPr>
          <a:xfrm>
            <a:off x="7155708" y="1505417"/>
            <a:ext cx="3946165" cy="2516748"/>
          </a:xfrm>
          <a:prstGeom prst="rect">
            <a:avLst/>
          </a:prstGeom>
          <a:ln>
            <a:noFill/>
          </a:ln>
          <a:effectLst>
            <a:softEdge rad="112500"/>
          </a:effectLst>
        </p:spPr>
      </p:pic>
      <p:pic>
        <p:nvPicPr>
          <p:cNvPr id="10" name="Picture 9">
            <a:extLst>
              <a:ext uri="{FF2B5EF4-FFF2-40B4-BE49-F238E27FC236}">
                <a16:creationId xmlns:a16="http://schemas.microsoft.com/office/drawing/2014/main" id="{2DEC4E75-C2AE-C7C9-7BB0-E5FE8A68B5E5}"/>
              </a:ext>
            </a:extLst>
          </p:cNvPr>
          <p:cNvPicPr>
            <a:picLocks noChangeAspect="1"/>
          </p:cNvPicPr>
          <p:nvPr/>
        </p:nvPicPr>
        <p:blipFill>
          <a:blip r:embed="rId3"/>
          <a:stretch>
            <a:fillRect/>
          </a:stretch>
        </p:blipFill>
        <p:spPr>
          <a:xfrm>
            <a:off x="7155708" y="4094209"/>
            <a:ext cx="3946165" cy="2516748"/>
          </a:xfrm>
          <a:prstGeom prst="rect">
            <a:avLst/>
          </a:prstGeom>
          <a:ln>
            <a:noFill/>
          </a:ln>
          <a:effectLst>
            <a:softEdge rad="112500"/>
          </a:effectLst>
        </p:spPr>
      </p:pic>
    </p:spTree>
    <p:extLst>
      <p:ext uri="{BB962C8B-B14F-4D97-AF65-F5344CB8AC3E}">
        <p14:creationId xmlns:p14="http://schemas.microsoft.com/office/powerpoint/2010/main" val="3590899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69F8A-F05D-EBF7-557C-60A36DCB599B}"/>
              </a:ext>
            </a:extLst>
          </p:cNvPr>
          <p:cNvSpPr>
            <a:spLocks noGrp="1"/>
          </p:cNvSpPr>
          <p:nvPr>
            <p:ph type="title"/>
          </p:nvPr>
        </p:nvSpPr>
        <p:spPr/>
        <p:txBody>
          <a:bodyPr/>
          <a:lstStyle/>
          <a:p>
            <a:pPr algn="ctr"/>
            <a:r>
              <a:rPr lang="en-US" b="1" dirty="0"/>
              <a:t>Co’s Attainments - DSA</a:t>
            </a:r>
            <a:endParaRPr lang="en-IN" dirty="0"/>
          </a:p>
        </p:txBody>
      </p:sp>
      <p:sp>
        <p:nvSpPr>
          <p:cNvPr id="3" name="Content Placeholder 2">
            <a:extLst>
              <a:ext uri="{FF2B5EF4-FFF2-40B4-BE49-F238E27FC236}">
                <a16:creationId xmlns:a16="http://schemas.microsoft.com/office/drawing/2014/main" id="{499BDA5C-B9E9-4ADB-3784-26FB5EF12824}"/>
              </a:ext>
            </a:extLst>
          </p:cNvPr>
          <p:cNvSpPr>
            <a:spLocks noGrp="1"/>
          </p:cNvSpPr>
          <p:nvPr>
            <p:ph idx="1"/>
          </p:nvPr>
        </p:nvSpPr>
        <p:spPr>
          <a:xfrm>
            <a:off x="698240" y="1715505"/>
            <a:ext cx="5478624" cy="4351338"/>
          </a:xfrm>
        </p:spPr>
        <p:txBody>
          <a:bodyPr>
            <a:normAutofit/>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CO3: Stacks &amp; Queues</a:t>
            </a:r>
            <a:br>
              <a:rPr lang="en-IN" sz="20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Stack for Undo :Uses the LIFO (Last-In, First-Out) property. </a:t>
            </a:r>
            <a:r>
              <a:rPr lang="en-US" sz="1800" dirty="0" err="1">
                <a:latin typeface="Times New Roman" panose="02020603050405020304" pitchFamily="18" charset="0"/>
                <a:cs typeface="Times New Roman" panose="02020603050405020304" pitchFamily="18" charset="0"/>
              </a:rPr>
              <a:t>undoStack.pop</a:t>
            </a:r>
            <a:r>
              <a:rPr lang="en-US" sz="1800" dirty="0">
                <a:latin typeface="Times New Roman" panose="02020603050405020304" pitchFamily="18" charset="0"/>
                <a:cs typeface="Times New Roman" panose="02020603050405020304" pitchFamily="18" charset="0"/>
              </a:rPr>
              <a:t>() retrieves the most recent transaction to remove it from the main list.</a:t>
            </a:r>
          </a:p>
          <a:p>
            <a:pPr marL="0" indent="0">
              <a:lnSpc>
                <a:spcPct val="150000"/>
              </a:lnSpc>
              <a:buNone/>
            </a:pP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Queue for History :Uses the FIFO (First-In, First-Out) property. Every new transaction is added to </a:t>
            </a:r>
            <a:r>
              <a:rPr lang="en-US" sz="1800" dirty="0" err="1">
                <a:latin typeface="Times New Roman" panose="02020603050405020304" pitchFamily="18" charset="0"/>
                <a:cs typeface="Times New Roman" panose="02020603050405020304" pitchFamily="18" charset="0"/>
              </a:rPr>
              <a:t>historyQueue</a:t>
            </a:r>
            <a:r>
              <a:rPr lang="en-US" sz="1800" dirty="0">
                <a:latin typeface="Times New Roman" panose="02020603050405020304" pitchFamily="18" charset="0"/>
                <a:cs typeface="Times New Roman" panose="02020603050405020304" pitchFamily="18" charset="0"/>
              </a:rPr>
              <a:t> to maintain a chronological log of entries.</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765CFAE-D32F-25FE-441F-AD07C321349B}"/>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5E3E72B5-C397-E402-8DDF-C6EBD9761D41}"/>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45685B3-1F00-BC69-A6AE-F73275EF7F41}"/>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10" name="Picture 9">
            <a:extLst>
              <a:ext uri="{FF2B5EF4-FFF2-40B4-BE49-F238E27FC236}">
                <a16:creationId xmlns:a16="http://schemas.microsoft.com/office/drawing/2014/main" id="{D55845D0-8AA9-7234-7297-49DD36A0E125}"/>
              </a:ext>
            </a:extLst>
          </p:cNvPr>
          <p:cNvPicPr>
            <a:picLocks noChangeAspect="1"/>
          </p:cNvPicPr>
          <p:nvPr/>
        </p:nvPicPr>
        <p:blipFill>
          <a:blip r:embed="rId2"/>
          <a:stretch>
            <a:fillRect/>
          </a:stretch>
        </p:blipFill>
        <p:spPr>
          <a:xfrm>
            <a:off x="7184571" y="1715506"/>
            <a:ext cx="3979312" cy="2128706"/>
          </a:xfrm>
          <a:prstGeom prst="rect">
            <a:avLst/>
          </a:prstGeom>
          <a:ln>
            <a:noFill/>
          </a:ln>
          <a:effectLst>
            <a:softEdge rad="112500"/>
          </a:effectLst>
        </p:spPr>
      </p:pic>
      <p:pic>
        <p:nvPicPr>
          <p:cNvPr id="12" name="Picture 11">
            <a:extLst>
              <a:ext uri="{FF2B5EF4-FFF2-40B4-BE49-F238E27FC236}">
                <a16:creationId xmlns:a16="http://schemas.microsoft.com/office/drawing/2014/main" id="{74CD12D9-B61B-563D-341E-AC09B0B3A118}"/>
              </a:ext>
            </a:extLst>
          </p:cNvPr>
          <p:cNvPicPr>
            <a:picLocks noChangeAspect="1"/>
          </p:cNvPicPr>
          <p:nvPr/>
        </p:nvPicPr>
        <p:blipFill>
          <a:blip r:embed="rId3"/>
          <a:stretch>
            <a:fillRect/>
          </a:stretch>
        </p:blipFill>
        <p:spPr>
          <a:xfrm>
            <a:off x="7184571" y="4358142"/>
            <a:ext cx="3824606" cy="655560"/>
          </a:xfrm>
          <a:prstGeom prst="rect">
            <a:avLst/>
          </a:prstGeom>
          <a:ln>
            <a:noFill/>
          </a:ln>
          <a:effectLst>
            <a:softEdge rad="112500"/>
          </a:effectLst>
        </p:spPr>
      </p:pic>
    </p:spTree>
    <p:extLst>
      <p:ext uri="{BB962C8B-B14F-4D97-AF65-F5344CB8AC3E}">
        <p14:creationId xmlns:p14="http://schemas.microsoft.com/office/powerpoint/2010/main" val="2426010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9EF05-1597-592D-F0C7-2323B775CFC7}"/>
              </a:ext>
            </a:extLst>
          </p:cNvPr>
          <p:cNvSpPr>
            <a:spLocks noGrp="1"/>
          </p:cNvSpPr>
          <p:nvPr>
            <p:ph type="title"/>
          </p:nvPr>
        </p:nvSpPr>
        <p:spPr/>
        <p:txBody>
          <a:bodyPr/>
          <a:lstStyle/>
          <a:p>
            <a:pPr algn="ctr"/>
            <a:r>
              <a:rPr lang="en-US" b="1" dirty="0"/>
              <a:t>Co’s Attainments - DSA</a:t>
            </a:r>
            <a:endParaRPr lang="en-IN" dirty="0"/>
          </a:p>
        </p:txBody>
      </p:sp>
      <p:sp>
        <p:nvSpPr>
          <p:cNvPr id="3" name="Content Placeholder 2">
            <a:extLst>
              <a:ext uri="{FF2B5EF4-FFF2-40B4-BE49-F238E27FC236}">
                <a16:creationId xmlns:a16="http://schemas.microsoft.com/office/drawing/2014/main" id="{DF88CBF4-A8CF-7694-D2EF-763D777062B7}"/>
              </a:ext>
            </a:extLst>
          </p:cNvPr>
          <p:cNvSpPr>
            <a:spLocks noGrp="1"/>
          </p:cNvSpPr>
          <p:nvPr>
            <p:ph idx="1"/>
          </p:nvPr>
        </p:nvSpPr>
        <p:spPr>
          <a:xfrm>
            <a:off x="491068" y="1825625"/>
            <a:ext cx="5232400" cy="4351338"/>
          </a:xfrm>
        </p:spPr>
        <p:txBody>
          <a:bodyPr>
            <a:normAutofit lnSpcReduction="10000"/>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CO4: Hash-based Structures &amp; Collections</a:t>
            </a:r>
            <a:br>
              <a:rPr lang="en-IN" sz="20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HashMap for Login : A </a:t>
            </a:r>
            <a:r>
              <a:rPr lang="en-IN" sz="1800" dirty="0" err="1">
                <a:latin typeface="Times New Roman" panose="02020603050405020304" pitchFamily="18" charset="0"/>
                <a:cs typeface="Times New Roman" panose="02020603050405020304" pitchFamily="18" charset="0"/>
              </a:rPr>
              <a:t>Hashmap</a:t>
            </a:r>
            <a:r>
              <a:rPr lang="en-IN" sz="1800" dirty="0">
                <a:latin typeface="Times New Roman" panose="02020603050405020304" pitchFamily="18" charset="0"/>
                <a:cs typeface="Times New Roman" panose="02020603050405020304" pitchFamily="18" charset="0"/>
              </a:rPr>
              <a:t>  provides O(1) average time complexity for searching. This is much more efficient than storing user in a list and searching through them one by one</a:t>
            </a:r>
          </a:p>
          <a:p>
            <a:pPr marL="0" indent="0">
              <a:lnSpc>
                <a:spcPct val="150000"/>
              </a:lnSpc>
              <a:buNone/>
            </a:pPr>
            <a:r>
              <a:rPr lang="en-IN" sz="1800" dirty="0">
                <a:latin typeface="Times New Roman" panose="02020603050405020304" pitchFamily="18" charset="0"/>
                <a:cs typeface="Times New Roman" panose="02020603050405020304" pitchFamily="18" charset="0"/>
              </a:rPr>
              <a:t>Java Collections </a:t>
            </a:r>
            <a:r>
              <a:rPr lang="en-US" sz="1800" dirty="0">
                <a:latin typeface="Times New Roman" panose="02020603050405020304" pitchFamily="18" charset="0"/>
                <a:cs typeface="Times New Roman" panose="02020603050405020304" pitchFamily="18" charset="0"/>
              </a:rPr>
              <a:t>Demonstrates the use of built-in frameworks (Stack and Queue) to handle dynamic data efficiently without manual pointer management for those specific features.</a:t>
            </a:r>
            <a:br>
              <a:rPr lang="en-IN" sz="2000" dirty="0"/>
            </a:br>
            <a:endParaRPr lang="en-IN" sz="2000" dirty="0"/>
          </a:p>
        </p:txBody>
      </p:sp>
      <p:sp>
        <p:nvSpPr>
          <p:cNvPr id="4" name="Date Placeholder 3">
            <a:extLst>
              <a:ext uri="{FF2B5EF4-FFF2-40B4-BE49-F238E27FC236}">
                <a16:creationId xmlns:a16="http://schemas.microsoft.com/office/drawing/2014/main" id="{DC1F9BA9-BE0F-3DA9-F3E6-26E3BCE06590}"/>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7FCE99E2-6646-A4EC-76EB-ED4FCD3DA101}"/>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CACC1A7-A5E1-9355-C937-4F94D81658EA}"/>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15" name="Picture 14">
            <a:extLst>
              <a:ext uri="{FF2B5EF4-FFF2-40B4-BE49-F238E27FC236}">
                <a16:creationId xmlns:a16="http://schemas.microsoft.com/office/drawing/2014/main" id="{22E4053B-B5BA-6C53-ACAD-3D3EC5D087C2}"/>
              </a:ext>
            </a:extLst>
          </p:cNvPr>
          <p:cNvPicPr>
            <a:picLocks noChangeAspect="1"/>
          </p:cNvPicPr>
          <p:nvPr/>
        </p:nvPicPr>
        <p:blipFill>
          <a:blip r:embed="rId2"/>
          <a:stretch>
            <a:fillRect/>
          </a:stretch>
        </p:blipFill>
        <p:spPr>
          <a:xfrm>
            <a:off x="6468534" y="1825625"/>
            <a:ext cx="5284667" cy="4002832"/>
          </a:xfrm>
          <a:prstGeom prst="rect">
            <a:avLst/>
          </a:prstGeom>
          <a:ln>
            <a:noFill/>
          </a:ln>
          <a:effectLst>
            <a:softEdge rad="112500"/>
          </a:effectLst>
        </p:spPr>
      </p:pic>
    </p:spTree>
    <p:extLst>
      <p:ext uri="{BB962C8B-B14F-4D97-AF65-F5344CB8AC3E}">
        <p14:creationId xmlns:p14="http://schemas.microsoft.com/office/powerpoint/2010/main" val="2863705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C39F7-150B-FE2A-4BCF-F1E07E751A3B}"/>
              </a:ext>
            </a:extLst>
          </p:cNvPr>
          <p:cNvSpPr>
            <a:spLocks noGrp="1"/>
          </p:cNvSpPr>
          <p:nvPr>
            <p:ph type="title"/>
          </p:nvPr>
        </p:nvSpPr>
        <p:spPr/>
        <p:txBody>
          <a:bodyPr/>
          <a:lstStyle/>
          <a:p>
            <a:pPr algn="ctr"/>
            <a:r>
              <a:rPr lang="en-US" b="1" dirty="0"/>
              <a:t>Co’s Attainments - DSA</a:t>
            </a:r>
            <a:endParaRPr lang="en-IN" dirty="0"/>
          </a:p>
        </p:txBody>
      </p:sp>
      <p:sp>
        <p:nvSpPr>
          <p:cNvPr id="3" name="Content Placeholder 2">
            <a:extLst>
              <a:ext uri="{FF2B5EF4-FFF2-40B4-BE49-F238E27FC236}">
                <a16:creationId xmlns:a16="http://schemas.microsoft.com/office/drawing/2014/main" id="{7C315CD2-9B31-A557-717B-182EBB1ECB48}"/>
              </a:ext>
            </a:extLst>
          </p:cNvPr>
          <p:cNvSpPr>
            <a:spLocks noGrp="1"/>
          </p:cNvSpPr>
          <p:nvPr>
            <p:ph idx="1"/>
          </p:nvPr>
        </p:nvSpPr>
        <p:spPr>
          <a:xfrm>
            <a:off x="251928" y="2005012"/>
            <a:ext cx="5990252" cy="3817290"/>
          </a:xfrm>
        </p:spPr>
        <p:txBody>
          <a:bodyPr>
            <a:normAutofit/>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CO5: Practical Application</a:t>
            </a:r>
            <a:br>
              <a:rPr lang="en-IN" sz="20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Expense Tracker :Integrates all the above structures into a functional CRUD (Create, Read, Update, Delete) application.</a:t>
            </a:r>
          </a:p>
          <a:p>
            <a:pPr marL="0" indent="0">
              <a:lnSpc>
                <a:spcPct val="150000"/>
              </a:lnSpc>
              <a:buNone/>
            </a:pP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Financial Logic :The </a:t>
            </a:r>
            <a:r>
              <a:rPr lang="en-US" sz="1800" dirty="0" err="1">
                <a:latin typeface="Times New Roman" panose="02020603050405020304" pitchFamily="18" charset="0"/>
                <a:cs typeface="Times New Roman" panose="02020603050405020304" pitchFamily="18" charset="0"/>
              </a:rPr>
              <a:t>viewSummary</a:t>
            </a:r>
            <a:r>
              <a:rPr lang="en-US" sz="1800" dirty="0">
                <a:latin typeface="Times New Roman" panose="02020603050405020304" pitchFamily="18" charset="0"/>
                <a:cs typeface="Times New Roman" panose="02020603050405020304" pitchFamily="18" charset="0"/>
              </a:rPr>
              <a:t>() method processes the entire linear structure to calculate the current balance (Total Income - Total Expense).</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99763A1-B674-2ADA-A713-90F0544C00FC}"/>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B16FE3B6-18FC-089B-FB73-0785E9A746E9}"/>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8491926-E477-3B96-9E50-8FE99FAF7273}"/>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8" name="Picture 7">
            <a:extLst>
              <a:ext uri="{FF2B5EF4-FFF2-40B4-BE49-F238E27FC236}">
                <a16:creationId xmlns:a16="http://schemas.microsoft.com/office/drawing/2014/main" id="{4AD902A9-DE32-3BBC-57BD-AAD13E089B0C}"/>
              </a:ext>
            </a:extLst>
          </p:cNvPr>
          <p:cNvPicPr>
            <a:picLocks noChangeAspect="1"/>
          </p:cNvPicPr>
          <p:nvPr/>
        </p:nvPicPr>
        <p:blipFill>
          <a:blip r:embed="rId2"/>
          <a:stretch>
            <a:fillRect/>
          </a:stretch>
        </p:blipFill>
        <p:spPr>
          <a:xfrm>
            <a:off x="6867331" y="1690688"/>
            <a:ext cx="4623189" cy="2595096"/>
          </a:xfrm>
          <a:prstGeom prst="rect">
            <a:avLst/>
          </a:prstGeom>
          <a:ln>
            <a:noFill/>
          </a:ln>
          <a:effectLst>
            <a:softEdge rad="112500"/>
          </a:effectLst>
        </p:spPr>
      </p:pic>
      <p:pic>
        <p:nvPicPr>
          <p:cNvPr id="10" name="Picture 9">
            <a:extLst>
              <a:ext uri="{FF2B5EF4-FFF2-40B4-BE49-F238E27FC236}">
                <a16:creationId xmlns:a16="http://schemas.microsoft.com/office/drawing/2014/main" id="{DFE3B395-D003-AAD2-7205-586B9C855551}"/>
              </a:ext>
            </a:extLst>
          </p:cNvPr>
          <p:cNvPicPr>
            <a:picLocks noChangeAspect="1"/>
          </p:cNvPicPr>
          <p:nvPr/>
        </p:nvPicPr>
        <p:blipFill>
          <a:blip r:embed="rId3"/>
          <a:stretch>
            <a:fillRect/>
          </a:stretch>
        </p:blipFill>
        <p:spPr>
          <a:xfrm>
            <a:off x="6867331" y="4443346"/>
            <a:ext cx="4385355" cy="2095566"/>
          </a:xfrm>
          <a:prstGeom prst="rect">
            <a:avLst/>
          </a:prstGeom>
          <a:ln>
            <a:noFill/>
          </a:ln>
          <a:effectLst>
            <a:softEdge rad="112500"/>
          </a:effectLst>
        </p:spPr>
      </p:pic>
    </p:spTree>
    <p:extLst>
      <p:ext uri="{BB962C8B-B14F-4D97-AF65-F5344CB8AC3E}">
        <p14:creationId xmlns:p14="http://schemas.microsoft.com/office/powerpoint/2010/main" val="262896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pPr algn="ctr"/>
            <a:r>
              <a:rPr lang="en-US" b="1" dirty="0"/>
              <a:t>Screenshots for  DSA</a:t>
            </a:r>
          </a:p>
        </p:txBody>
      </p:sp>
      <p:pic>
        <p:nvPicPr>
          <p:cNvPr id="8" name="Content Placeholder 7">
            <a:extLst>
              <a:ext uri="{FF2B5EF4-FFF2-40B4-BE49-F238E27FC236}">
                <a16:creationId xmlns:a16="http://schemas.microsoft.com/office/drawing/2014/main" id="{DEF7ACDE-7BB1-D45D-FB06-D5E18FCE7D15}"/>
              </a:ext>
            </a:extLst>
          </p:cNvPr>
          <p:cNvPicPr>
            <a:picLocks noGrp="1" noChangeAspect="1"/>
          </p:cNvPicPr>
          <p:nvPr>
            <p:ph idx="1"/>
          </p:nvPr>
        </p:nvPicPr>
        <p:blipFill>
          <a:blip r:embed="rId2"/>
          <a:stretch>
            <a:fillRect/>
          </a:stretch>
        </p:blipFill>
        <p:spPr>
          <a:xfrm>
            <a:off x="1127319" y="1893489"/>
            <a:ext cx="3323384" cy="40815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10" name="Picture 9">
            <a:extLst>
              <a:ext uri="{FF2B5EF4-FFF2-40B4-BE49-F238E27FC236}">
                <a16:creationId xmlns:a16="http://schemas.microsoft.com/office/drawing/2014/main" id="{173CAC39-C14C-3E75-A216-72E728417F8B}"/>
              </a:ext>
            </a:extLst>
          </p:cNvPr>
          <p:cNvPicPr>
            <a:picLocks noChangeAspect="1"/>
          </p:cNvPicPr>
          <p:nvPr/>
        </p:nvPicPr>
        <p:blipFill>
          <a:blip r:embed="rId3"/>
          <a:stretch>
            <a:fillRect/>
          </a:stretch>
        </p:blipFill>
        <p:spPr>
          <a:xfrm>
            <a:off x="6248294" y="1945157"/>
            <a:ext cx="3323384" cy="39781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195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a:xfrm>
            <a:off x="838200" y="1825625"/>
            <a:ext cx="9780037" cy="4351338"/>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The Personal Expense Tracker successfully demonstrates how data structures can be used to manage financial data efficiently. The system allows users to add, view, search, sort, and undo transactions using structures like Linked List, Stack, Queue, and HashMap. This project helped in understanding the practical implementation of data structures and how they can be applied to solve real-life problems such as expense management.</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11-03-2026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85891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11-03-2026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15</a:t>
            </a:fld>
            <a:endParaRPr lang="en-US"/>
          </a:p>
        </p:txBody>
      </p:sp>
      <p:sp>
        <p:nvSpPr>
          <p:cNvPr id="7" name="AutoShape 2">
            <a:extLst>
              <a:ext uri="{FF2B5EF4-FFF2-40B4-BE49-F238E27FC236}">
                <a16:creationId xmlns:a16="http://schemas.microsoft.com/office/drawing/2014/main" id="{EB720FEE-9FBC-00A6-B14A-EF03133F4F6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8">
            <a:extLst>
              <a:ext uri="{FF2B5EF4-FFF2-40B4-BE49-F238E27FC236}">
                <a16:creationId xmlns:a16="http://schemas.microsoft.com/office/drawing/2014/main" id="{F08CAA27-8D78-73FB-74B2-3FA85BBF270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CBEF2737-74ED-4E07-8F2C-F291E617B777}"/>
              </a:ext>
            </a:extLst>
          </p:cNvPr>
          <p:cNvPicPr>
            <a:picLocks noChangeAspect="1"/>
          </p:cNvPicPr>
          <p:nvPr/>
        </p:nvPicPr>
        <p:blipFill>
          <a:blip r:embed="rId2"/>
          <a:stretch>
            <a:fillRect/>
          </a:stretch>
        </p:blipFill>
        <p:spPr>
          <a:xfrm>
            <a:off x="799674" y="1772816"/>
            <a:ext cx="5170363" cy="4287100"/>
          </a:xfrm>
          <a:prstGeom prst="rect">
            <a:avLst/>
          </a:prstGeom>
          <a:ln>
            <a:noFill/>
          </a:ln>
          <a:effectLst>
            <a:softEdge rad="112500"/>
          </a:effectLst>
        </p:spPr>
      </p:pic>
      <p:pic>
        <p:nvPicPr>
          <p:cNvPr id="15" name="Picture 14">
            <a:extLst>
              <a:ext uri="{FF2B5EF4-FFF2-40B4-BE49-F238E27FC236}">
                <a16:creationId xmlns:a16="http://schemas.microsoft.com/office/drawing/2014/main" id="{3659F9A1-525B-9AA1-B351-5018FB6D0571}"/>
              </a:ext>
            </a:extLst>
          </p:cNvPr>
          <p:cNvPicPr>
            <a:picLocks noChangeAspect="1"/>
          </p:cNvPicPr>
          <p:nvPr/>
        </p:nvPicPr>
        <p:blipFill>
          <a:blip r:embed="rId3"/>
          <a:stretch>
            <a:fillRect/>
          </a:stretch>
        </p:blipFill>
        <p:spPr>
          <a:xfrm>
            <a:off x="6221965" y="1904994"/>
            <a:ext cx="5170364" cy="4154922"/>
          </a:xfrm>
          <a:prstGeom prst="rect">
            <a:avLst/>
          </a:prstGeom>
          <a:ln>
            <a:noFill/>
          </a:ln>
          <a:effectLst>
            <a:softEdge rad="112500"/>
          </a:effectLst>
        </p:spPr>
      </p:pic>
    </p:spTree>
    <p:extLst>
      <p:ext uri="{BB962C8B-B14F-4D97-AF65-F5344CB8AC3E}">
        <p14:creationId xmlns:p14="http://schemas.microsoft.com/office/powerpoint/2010/main" val="2357471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11-03-2026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3801</TotalTime>
  <Words>928</Words>
  <Application>Microsoft Office PowerPoint</Application>
  <PresentationFormat>Widescreen</PresentationFormat>
  <Paragraphs>103</Paragraphs>
  <Slides>16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Calibri</vt:lpstr>
      <vt:lpstr>Calibri Light</vt:lpstr>
      <vt:lpstr>Times New Roman</vt:lpstr>
      <vt:lpstr>Wingdings</vt:lpstr>
      <vt:lpstr>Office Theme</vt:lpstr>
      <vt:lpstr>Custom Design</vt:lpstr>
      <vt:lpstr>Title: Personal Expense Tracker Using Java</vt:lpstr>
      <vt:lpstr>Abstract</vt:lpstr>
      <vt:lpstr>Existing System </vt:lpstr>
      <vt:lpstr>Proposed System</vt:lpstr>
      <vt:lpstr>System Architecture</vt:lpstr>
      <vt:lpstr>Project Modules</vt:lpstr>
      <vt:lpstr>Objectives</vt:lpstr>
      <vt:lpstr>Co’s Attainments - DSA</vt:lpstr>
      <vt:lpstr>Co’s Attainments - DSA</vt:lpstr>
      <vt:lpstr>Co’s Attainments - DSA</vt:lpstr>
      <vt:lpstr>Co’s Attainments - DSA</vt:lpstr>
      <vt:lpstr>Co’s Attainments - DSA</vt:lpstr>
      <vt:lpstr>Screenshots for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Polisetty Sreeharsha</cp:lastModifiedBy>
  <cp:revision>53</cp:revision>
  <dcterms:created xsi:type="dcterms:W3CDTF">2022-05-20T10:20:31Z</dcterms:created>
  <dcterms:modified xsi:type="dcterms:W3CDTF">2026-03-11T18:07:28Z</dcterms:modified>
</cp:coreProperties>
</file>